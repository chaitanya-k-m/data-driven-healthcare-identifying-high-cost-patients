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nva Sans" panose="020B0503030501040103" pitchFamily="34" charset="0"/>
      <p:regular r:id="rId19"/>
    </p:embeddedFont>
    <p:embeddedFont>
      <p:font typeface="Montserrat" pitchFamily="2" charset="77"/>
      <p:regular r:id="rId20"/>
      <p:bold r:id="rId21"/>
      <p:italic r:id="rId22"/>
      <p:boldItalic r:id="rId23"/>
    </p:embeddedFont>
    <p:embeddedFont>
      <p:font typeface="Montserrat Bold" pitchFamily="2" charset="77"/>
      <p:regular r:id="rId24"/>
    </p:embeddedFont>
    <p:embeddedFont>
      <p:font typeface="Montserrat Extra-Bold" pitchFamily="2" charset="77"/>
      <p:regular r:id="rId25"/>
      <p:bold r:id="rId26"/>
    </p:embeddedFont>
    <p:embeddedFont>
      <p:font typeface="Montserrat Extra-Bold Bold" pitchFamily="2" charset="77"/>
      <p:regular r:id="rId27"/>
      <p:bold r:id="rId28"/>
    </p:embeddedFont>
    <p:embeddedFont>
      <p:font typeface="Montserrat Extra-Bold Italics" pitchFamily="2" charset="77"/>
      <p:regular r:id="rId29"/>
      <p:bold r:id="rId30"/>
      <p:italic r:id="rId31"/>
      <p:boldItalic r:id="rId32"/>
    </p:embeddedFont>
    <p:embeddedFont>
      <p:font typeface="Montserrat Italics" pitchFamily="2" charset="77"/>
      <p:regular r:id="rId33"/>
      <p:italic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 autoAdjust="0"/>
    <p:restoredTop sz="94659" autoAdjust="0"/>
  </p:normalViewPr>
  <p:slideViewPr>
    <p:cSldViewPr>
      <p:cViewPr varScale="1">
        <p:scale>
          <a:sx n="73" d="100"/>
          <a:sy n="73" d="100"/>
        </p:scale>
        <p:origin x="784" y="7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15855" r="2458" b="40250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 rot="-7020778">
            <a:off x="-6402716" y="821505"/>
            <a:ext cx="16230600" cy="10441156"/>
          </a:xfrm>
          <a:prstGeom prst="rect">
            <a:avLst/>
          </a:prstGeom>
          <a:solidFill>
            <a:srgbClr val="213559"/>
          </a:solidFill>
        </p:spPr>
      </p:sp>
      <p:sp>
        <p:nvSpPr>
          <p:cNvPr id="4" name="AutoShape 4"/>
          <p:cNvSpPr/>
          <p:nvPr/>
        </p:nvSpPr>
        <p:spPr>
          <a:xfrm rot="-7020778">
            <a:off x="-7861675" y="821505"/>
            <a:ext cx="16230600" cy="10441156"/>
          </a:xfrm>
          <a:prstGeom prst="rect">
            <a:avLst/>
          </a:prstGeom>
          <a:solidFill>
            <a:srgbClr val="263F6B"/>
          </a:solidFill>
        </p:spPr>
      </p:sp>
      <p:sp>
        <p:nvSpPr>
          <p:cNvPr id="5" name="TextBox 5"/>
          <p:cNvSpPr txBox="1"/>
          <p:nvPr/>
        </p:nvSpPr>
        <p:spPr>
          <a:xfrm>
            <a:off x="367460" y="5591175"/>
            <a:ext cx="14559398" cy="351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338"/>
              </a:lnSpc>
            </a:pPr>
            <a:r>
              <a:rPr lang="en-US" sz="14986" spc="-884">
                <a:solidFill>
                  <a:srgbClr val="FFFFFF"/>
                </a:solidFill>
                <a:latin typeface="Montserrat Extra-Bold Italics"/>
              </a:rPr>
              <a:t>HEALTHCARE  MANAGEMENT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99654" y="405718"/>
            <a:ext cx="6669745" cy="375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14"/>
              </a:lnSpc>
            </a:pPr>
            <a:r>
              <a:rPr lang="en-US" sz="2871" spc="57">
                <a:solidFill>
                  <a:srgbClr val="FFFFFF"/>
                </a:solidFill>
                <a:latin typeface="Montserrat Italics"/>
              </a:rPr>
              <a:t>INTRODUCTION TO DATASCIENCE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028700" y="1028700"/>
            <a:ext cx="1783058" cy="29501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5476242" y="8956802"/>
            <a:ext cx="1783058" cy="295015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-1536273" y="4580698"/>
            <a:ext cx="5244233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-2298994" y="9582841"/>
            <a:ext cx="9005773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-3516288" y="3712270"/>
            <a:ext cx="5720180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3066191" y="2823187"/>
            <a:ext cx="930938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628699" y="2392260"/>
            <a:ext cx="1291530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1753206">
            <a:off x="-1113304" y="4354356"/>
            <a:ext cx="25783492" cy="9586163"/>
          </a:xfrm>
          <a:prstGeom prst="rect">
            <a:avLst/>
          </a:prstGeom>
          <a:solidFill>
            <a:srgbClr val="545454">
              <a:alpha val="4706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297214" y="-726996"/>
            <a:ext cx="11740992" cy="11740992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1028700" y="615601"/>
            <a:ext cx="16230600" cy="9055797"/>
          </a:xfrm>
          <a:prstGeom prst="rect">
            <a:avLst/>
          </a:prstGeom>
          <a:solidFill>
            <a:srgbClr val="263F6B"/>
          </a:solidFill>
        </p:spPr>
      </p:sp>
      <p:grpSp>
        <p:nvGrpSpPr>
          <p:cNvPr id="5" name="Group 5"/>
          <p:cNvGrpSpPr/>
          <p:nvPr/>
        </p:nvGrpSpPr>
        <p:grpSpPr>
          <a:xfrm>
            <a:off x="-330479" y="-247859"/>
            <a:ext cx="8456256" cy="10782718"/>
            <a:chOff x="0" y="0"/>
            <a:chExt cx="11275007" cy="14376958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20538" r="27178"/>
            <a:stretch>
              <a:fillRect/>
            </a:stretch>
          </p:blipFill>
          <p:spPr>
            <a:xfrm>
              <a:off x="0" y="0"/>
              <a:ext cx="11275007" cy="14376958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10483271" y="2628940"/>
            <a:ext cx="2554935" cy="798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958"/>
              </a:lnSpc>
            </a:pPr>
            <a:r>
              <a:rPr lang="en-US" sz="6080" spc="-358">
                <a:solidFill>
                  <a:srgbClr val="FFFFFF"/>
                </a:solidFill>
                <a:latin typeface="Montserrat Extra-Bold"/>
              </a:rPr>
              <a:t>GOAL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83729" y="4496213"/>
            <a:ext cx="6818663" cy="173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4"/>
              </a:lnSpc>
              <a:spcBef>
                <a:spcPct val="0"/>
              </a:spcBef>
            </a:pPr>
            <a:r>
              <a:rPr lang="en-US" sz="3557" spc="71">
                <a:solidFill>
                  <a:srgbClr val="FFFFFF"/>
                </a:solidFill>
                <a:latin typeface="Montserrat Extra-Bold"/>
              </a:rPr>
              <a:t> To reduce the total health cost incured on person by analysing the data.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5071134" y="1054482"/>
            <a:ext cx="1783058" cy="295015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 rot="-5400000">
            <a:off x="13018986" y="5376538"/>
            <a:ext cx="6492240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1753206">
            <a:off x="-1113304" y="4354356"/>
            <a:ext cx="25783492" cy="9586163"/>
          </a:xfrm>
          <a:prstGeom prst="rect">
            <a:avLst/>
          </a:prstGeom>
          <a:solidFill>
            <a:srgbClr val="545454">
              <a:alpha val="4706"/>
            </a:srgbClr>
          </a:solidFill>
        </p:spPr>
      </p:sp>
      <p:sp>
        <p:nvSpPr>
          <p:cNvPr id="3" name="AutoShape 3"/>
          <p:cNvSpPr/>
          <p:nvPr/>
        </p:nvSpPr>
        <p:spPr>
          <a:xfrm rot="2700000">
            <a:off x="-2646503" y="9043300"/>
            <a:ext cx="5293007" cy="2487400"/>
          </a:xfrm>
          <a:prstGeom prst="rect">
            <a:avLst/>
          </a:prstGeom>
          <a:solidFill>
            <a:srgbClr val="213559"/>
          </a:solidFill>
        </p:spPr>
      </p:sp>
      <p:sp>
        <p:nvSpPr>
          <p:cNvPr id="4" name="AutoShape 4"/>
          <p:cNvSpPr/>
          <p:nvPr/>
        </p:nvSpPr>
        <p:spPr>
          <a:xfrm rot="2700000">
            <a:off x="15641497" y="-1243700"/>
            <a:ext cx="5293007" cy="2487400"/>
          </a:xfrm>
          <a:prstGeom prst="rect">
            <a:avLst/>
          </a:prstGeom>
          <a:solidFill>
            <a:srgbClr val="213559"/>
          </a:solidFill>
        </p:spPr>
      </p:sp>
      <p:grpSp>
        <p:nvGrpSpPr>
          <p:cNvPr id="5" name="Group 5"/>
          <p:cNvGrpSpPr/>
          <p:nvPr/>
        </p:nvGrpSpPr>
        <p:grpSpPr>
          <a:xfrm>
            <a:off x="943431" y="5481418"/>
            <a:ext cx="3456046" cy="1352244"/>
            <a:chOff x="0" y="0"/>
            <a:chExt cx="1687841" cy="660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7841" cy="660400"/>
            </a:xfrm>
            <a:custGeom>
              <a:avLst/>
              <a:gdLst/>
              <a:ahLst/>
              <a:cxnLst/>
              <a:rect l="l" t="t" r="r" b="b"/>
              <a:pathLst>
                <a:path w="1687841" h="660400">
                  <a:moveTo>
                    <a:pt x="1563381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63381" y="0"/>
                  </a:lnTo>
                  <a:cubicBezTo>
                    <a:pt x="1631961" y="0"/>
                    <a:pt x="1687841" y="55880"/>
                    <a:pt x="1687841" y="124460"/>
                  </a:cubicBezTo>
                  <a:lnTo>
                    <a:pt x="1687841" y="535940"/>
                  </a:lnTo>
                  <a:cubicBezTo>
                    <a:pt x="1687841" y="604520"/>
                    <a:pt x="1631961" y="660400"/>
                    <a:pt x="1563381" y="660400"/>
                  </a:cubicBezTo>
                  <a:close/>
                </a:path>
              </a:pathLst>
            </a:custGeom>
            <a:solidFill>
              <a:srgbClr val="263F6B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-2512615" y="1681677"/>
            <a:ext cx="6912092" cy="1309890"/>
            <a:chOff x="0" y="0"/>
            <a:chExt cx="3484831" cy="660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84831" cy="660400"/>
            </a:xfrm>
            <a:custGeom>
              <a:avLst/>
              <a:gdLst/>
              <a:ahLst/>
              <a:cxnLst/>
              <a:rect l="l" t="t" r="r" b="b"/>
              <a:pathLst>
                <a:path w="3484831" h="660400">
                  <a:moveTo>
                    <a:pt x="3360371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360371" y="0"/>
                  </a:lnTo>
                  <a:cubicBezTo>
                    <a:pt x="3428951" y="0"/>
                    <a:pt x="3484831" y="55880"/>
                    <a:pt x="3484831" y="124460"/>
                  </a:cubicBezTo>
                  <a:lnTo>
                    <a:pt x="3484831" y="535940"/>
                  </a:lnTo>
                  <a:cubicBezTo>
                    <a:pt x="3484831" y="604520"/>
                    <a:pt x="3428951" y="660400"/>
                    <a:pt x="3360371" y="660400"/>
                  </a:cubicBezTo>
                  <a:close/>
                </a:path>
              </a:pathLst>
            </a:custGeom>
            <a:solidFill>
              <a:srgbClr val="263F6B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3490840" y="1681677"/>
            <a:ext cx="7309775" cy="1309890"/>
            <a:chOff x="0" y="0"/>
            <a:chExt cx="3685329" cy="660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85329" cy="660400"/>
            </a:xfrm>
            <a:custGeom>
              <a:avLst/>
              <a:gdLst/>
              <a:ahLst/>
              <a:cxnLst/>
              <a:rect l="l" t="t" r="r" b="b"/>
              <a:pathLst>
                <a:path w="3685329" h="660400">
                  <a:moveTo>
                    <a:pt x="3560869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560869" y="0"/>
                  </a:lnTo>
                  <a:cubicBezTo>
                    <a:pt x="3629449" y="0"/>
                    <a:pt x="3685329" y="55880"/>
                    <a:pt x="3685329" y="124460"/>
                  </a:cubicBezTo>
                  <a:lnTo>
                    <a:pt x="3685329" y="535940"/>
                  </a:lnTo>
                  <a:cubicBezTo>
                    <a:pt x="3685329" y="604520"/>
                    <a:pt x="3629449" y="660400"/>
                    <a:pt x="3560869" y="660400"/>
                  </a:cubicBezTo>
                  <a:close/>
                </a:path>
              </a:pathLst>
            </a:custGeom>
            <a:solidFill>
              <a:srgbClr val="263F6B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4355512" y="1200150"/>
            <a:ext cx="9091363" cy="3116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71"/>
              </a:lnSpc>
            </a:pPr>
            <a:r>
              <a:rPr lang="en-US" sz="8236" spc="-485">
                <a:solidFill>
                  <a:srgbClr val="263F6B"/>
                </a:solidFill>
                <a:latin typeface="Montserrat Extra-Bold"/>
              </a:rPr>
              <a:t>DETERMINANTS OF HEALTHCARE EXPENSES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3431" y="5940658"/>
            <a:ext cx="3456046" cy="386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lang="en-US" sz="2258" spc="45">
                <a:solidFill>
                  <a:srgbClr val="FFFFFF"/>
                </a:solidFill>
                <a:latin typeface="Montserrat Extra-Bold"/>
              </a:rPr>
              <a:t>LOCATION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512201" y="5499486"/>
            <a:ext cx="3456046" cy="1352244"/>
            <a:chOff x="0" y="0"/>
            <a:chExt cx="1687841" cy="660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87841" cy="660400"/>
            </a:xfrm>
            <a:custGeom>
              <a:avLst/>
              <a:gdLst/>
              <a:ahLst/>
              <a:cxnLst/>
              <a:rect l="l" t="t" r="r" b="b"/>
              <a:pathLst>
                <a:path w="1687841" h="660400">
                  <a:moveTo>
                    <a:pt x="1563381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63381" y="0"/>
                  </a:lnTo>
                  <a:cubicBezTo>
                    <a:pt x="1631961" y="0"/>
                    <a:pt x="1687841" y="55880"/>
                    <a:pt x="1687841" y="124460"/>
                  </a:cubicBezTo>
                  <a:lnTo>
                    <a:pt x="1687841" y="535940"/>
                  </a:lnTo>
                  <a:cubicBezTo>
                    <a:pt x="1687841" y="604520"/>
                    <a:pt x="1631961" y="660400"/>
                    <a:pt x="1563381" y="660400"/>
                  </a:cubicBezTo>
                  <a:close/>
                </a:path>
              </a:pathLst>
            </a:custGeom>
            <a:solidFill>
              <a:srgbClr val="263F6B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9335854" y="5968252"/>
            <a:ext cx="3808741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49">
                <a:solidFill>
                  <a:srgbClr val="FFFFFF"/>
                </a:solidFill>
                <a:latin typeface="Montserrat Extra-Bold"/>
              </a:rPr>
              <a:t>BMI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954220" y="5517555"/>
            <a:ext cx="3456046" cy="1352244"/>
            <a:chOff x="0" y="0"/>
            <a:chExt cx="1687841" cy="660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87841" cy="660400"/>
            </a:xfrm>
            <a:custGeom>
              <a:avLst/>
              <a:gdLst/>
              <a:ahLst/>
              <a:cxnLst/>
              <a:rect l="l" t="t" r="r" b="b"/>
              <a:pathLst>
                <a:path w="1687841" h="660400">
                  <a:moveTo>
                    <a:pt x="1563381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63381" y="0"/>
                  </a:lnTo>
                  <a:cubicBezTo>
                    <a:pt x="1631961" y="0"/>
                    <a:pt x="1687841" y="55880"/>
                    <a:pt x="1687841" y="124460"/>
                  </a:cubicBezTo>
                  <a:lnTo>
                    <a:pt x="1687841" y="535940"/>
                  </a:lnTo>
                  <a:cubicBezTo>
                    <a:pt x="1687841" y="604520"/>
                    <a:pt x="1631961" y="660400"/>
                    <a:pt x="1563381" y="660400"/>
                  </a:cubicBezTo>
                  <a:close/>
                </a:path>
              </a:pathLst>
            </a:custGeom>
            <a:solidFill>
              <a:srgbClr val="263F6B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3777872" y="5950183"/>
            <a:ext cx="3808741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49">
                <a:solidFill>
                  <a:srgbClr val="FFFFFF"/>
                </a:solidFill>
                <a:latin typeface="Montserrat Extra-Bold"/>
              </a:rPr>
              <a:t>SMOKER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067664" y="5481418"/>
            <a:ext cx="3456046" cy="1352244"/>
            <a:chOff x="0" y="0"/>
            <a:chExt cx="1687841" cy="660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87841" cy="660400"/>
            </a:xfrm>
            <a:custGeom>
              <a:avLst/>
              <a:gdLst/>
              <a:ahLst/>
              <a:cxnLst/>
              <a:rect l="l" t="t" r="r" b="b"/>
              <a:pathLst>
                <a:path w="1687841" h="660400">
                  <a:moveTo>
                    <a:pt x="1563381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63381" y="0"/>
                  </a:lnTo>
                  <a:cubicBezTo>
                    <a:pt x="1631961" y="0"/>
                    <a:pt x="1687841" y="55880"/>
                    <a:pt x="1687841" y="124460"/>
                  </a:cubicBezTo>
                  <a:lnTo>
                    <a:pt x="1687841" y="535940"/>
                  </a:lnTo>
                  <a:cubicBezTo>
                    <a:pt x="1687841" y="604520"/>
                    <a:pt x="1631961" y="660400"/>
                    <a:pt x="1563381" y="660400"/>
                  </a:cubicBezTo>
                  <a:close/>
                </a:path>
              </a:pathLst>
            </a:custGeom>
            <a:solidFill>
              <a:srgbClr val="263F6B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5067664" y="5958727"/>
            <a:ext cx="3456046" cy="386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lang="en-US" sz="2258" spc="45">
                <a:solidFill>
                  <a:srgbClr val="FFFFFF"/>
                </a:solidFill>
                <a:latin typeface="Montserrat Extra-Bold"/>
              </a:rPr>
              <a:t>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7446" y="1300420"/>
            <a:ext cx="14168216" cy="2371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36"/>
              </a:lnSpc>
            </a:pPr>
            <a:r>
              <a:rPr lang="en-US" sz="6261" spc="-369">
                <a:solidFill>
                  <a:srgbClr val="263F6B"/>
                </a:solidFill>
                <a:latin typeface="Montserrat Extra-Bold"/>
              </a:rPr>
              <a:t>HEALTHCARE COST IS MORE LIKELY TO INCREASE WITH SMOKING HABITS.</a:t>
            </a:r>
          </a:p>
        </p:txBody>
      </p:sp>
      <p:sp>
        <p:nvSpPr>
          <p:cNvPr id="3" name="AutoShape 3"/>
          <p:cNvSpPr/>
          <p:nvPr/>
        </p:nvSpPr>
        <p:spPr>
          <a:xfrm rot="-1753206">
            <a:off x="-1113304" y="4354356"/>
            <a:ext cx="25783492" cy="9586163"/>
          </a:xfrm>
          <a:prstGeom prst="rect">
            <a:avLst/>
          </a:prstGeom>
          <a:solidFill>
            <a:srgbClr val="545454">
              <a:alpha val="4706"/>
            </a:srgbClr>
          </a:solidFill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2129089"/>
            <a:ext cx="1783058" cy="295015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8156196"/>
            <a:ext cx="1783058" cy="295015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28700" y="9591065"/>
            <a:ext cx="16230600" cy="1351653"/>
          </a:xfrm>
          <a:prstGeom prst="rect">
            <a:avLst/>
          </a:prstGeom>
          <a:solidFill>
            <a:srgbClr val="213559"/>
          </a:solidFill>
        </p:spPr>
      </p:sp>
      <p:sp>
        <p:nvSpPr>
          <p:cNvPr id="7" name="AutoShape 7"/>
          <p:cNvSpPr/>
          <p:nvPr/>
        </p:nvSpPr>
        <p:spPr>
          <a:xfrm>
            <a:off x="1028700" y="-675827"/>
            <a:ext cx="16230600" cy="1351653"/>
          </a:xfrm>
          <a:prstGeom prst="rect">
            <a:avLst/>
          </a:prstGeom>
          <a:solidFill>
            <a:srgbClr val="213559"/>
          </a:solidFill>
        </p:spPr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182292" y="3735278"/>
            <a:ext cx="8500079" cy="5412159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028700" y="4356533"/>
            <a:ext cx="6753884" cy="1545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68"/>
              </a:lnSpc>
            </a:pPr>
            <a:r>
              <a:rPr lang="en-US" sz="2360" spc="47">
                <a:solidFill>
                  <a:srgbClr val="000000"/>
                </a:solidFill>
                <a:latin typeface="Montserrat Extra-Bold Bold"/>
              </a:rPr>
              <a:t>TAKEAWAY:  </a:t>
            </a:r>
            <a:r>
              <a:rPr lang="en-US" sz="2360" spc="47">
                <a:solidFill>
                  <a:srgbClr val="000000"/>
                </a:solidFill>
                <a:latin typeface="Montserrat Extra-Bold"/>
              </a:rPr>
              <a:t>Average expenses of the smoker are greater than 10k; Hence, smoking is one of the attributes related to expenses.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1753206">
            <a:off x="-1113304" y="4354356"/>
            <a:ext cx="25783492" cy="9586163"/>
          </a:xfrm>
          <a:prstGeom prst="rect">
            <a:avLst/>
          </a:prstGeom>
          <a:solidFill>
            <a:srgbClr val="545454">
              <a:alpha val="4706"/>
            </a:srgbClr>
          </a:solidFill>
        </p:spPr>
      </p:sp>
      <p:sp>
        <p:nvSpPr>
          <p:cNvPr id="3" name="AutoShape 3"/>
          <p:cNvSpPr/>
          <p:nvPr/>
        </p:nvSpPr>
        <p:spPr>
          <a:xfrm rot="-8231889">
            <a:off x="-10109114" y="6176620"/>
            <a:ext cx="16230600" cy="10441156"/>
          </a:xfrm>
          <a:prstGeom prst="rect">
            <a:avLst/>
          </a:prstGeom>
          <a:solidFill>
            <a:srgbClr val="213559"/>
          </a:solidFill>
        </p:spPr>
      </p:sp>
      <p:sp>
        <p:nvSpPr>
          <p:cNvPr id="4" name="AutoShape 4"/>
          <p:cNvSpPr/>
          <p:nvPr/>
        </p:nvSpPr>
        <p:spPr>
          <a:xfrm rot="-8231889">
            <a:off x="-10507643" y="6538090"/>
            <a:ext cx="16230600" cy="10441156"/>
          </a:xfrm>
          <a:prstGeom prst="rect">
            <a:avLst/>
          </a:prstGeom>
          <a:solidFill>
            <a:srgbClr val="263F6B"/>
          </a:solidFill>
        </p:spPr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1028700"/>
            <a:ext cx="1783058" cy="29501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7452893" y="7316416"/>
            <a:ext cx="2556816" cy="257554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-1730039" y="1733723"/>
            <a:ext cx="2556816" cy="2575547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27069" y="1733723"/>
            <a:ext cx="1386321" cy="0"/>
          </a:xfrm>
          <a:prstGeom prst="line">
            <a:avLst/>
          </a:prstGeom>
          <a:ln w="76200" cap="flat">
            <a:solidFill>
              <a:srgbClr val="263F6B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942385" y="3021496"/>
            <a:ext cx="12119780" cy="6665879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3211808" y="1121472"/>
            <a:ext cx="16184258" cy="19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314"/>
              </a:lnSpc>
            </a:pPr>
            <a:r>
              <a:rPr lang="en-US" sz="7464" spc="-440">
                <a:solidFill>
                  <a:srgbClr val="263F6B"/>
                </a:solidFill>
                <a:latin typeface="Montserrat Extra-Bold"/>
              </a:rPr>
              <a:t>HEALTHCARE EXPENSES BASED ON BMI AND SMOKING HABITS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58917" y="1392084"/>
            <a:ext cx="9917389" cy="159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36"/>
              </a:lnSpc>
            </a:pPr>
            <a:r>
              <a:rPr lang="en-US" sz="6261" spc="-369">
                <a:solidFill>
                  <a:srgbClr val="263F6B"/>
                </a:solidFill>
                <a:latin typeface="Montserrat Extra-Bold Italics"/>
              </a:rPr>
              <a:t>AGE IS RELEVANT TO HEALTHCARE EXPENSES.</a:t>
            </a:r>
          </a:p>
        </p:txBody>
      </p:sp>
      <p:sp>
        <p:nvSpPr>
          <p:cNvPr id="3" name="AutoShape 3"/>
          <p:cNvSpPr/>
          <p:nvPr/>
        </p:nvSpPr>
        <p:spPr>
          <a:xfrm rot="-1753206">
            <a:off x="-1113304" y="4354356"/>
            <a:ext cx="25783492" cy="9586163"/>
          </a:xfrm>
          <a:prstGeom prst="rect">
            <a:avLst/>
          </a:prstGeom>
          <a:solidFill>
            <a:srgbClr val="545454">
              <a:alpha val="4706"/>
            </a:srgbClr>
          </a:solidFill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2129089"/>
            <a:ext cx="1783058" cy="295015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8156196"/>
            <a:ext cx="1783058" cy="295015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28700" y="9591065"/>
            <a:ext cx="16230600" cy="1351653"/>
          </a:xfrm>
          <a:prstGeom prst="rect">
            <a:avLst/>
          </a:prstGeom>
          <a:solidFill>
            <a:srgbClr val="213559"/>
          </a:solidFill>
        </p:spPr>
      </p:sp>
      <p:sp>
        <p:nvSpPr>
          <p:cNvPr id="7" name="AutoShape 7"/>
          <p:cNvSpPr/>
          <p:nvPr/>
        </p:nvSpPr>
        <p:spPr>
          <a:xfrm>
            <a:off x="1028700" y="-675827"/>
            <a:ext cx="16230600" cy="1351653"/>
          </a:xfrm>
          <a:prstGeom prst="rect">
            <a:avLst/>
          </a:prstGeom>
          <a:solidFill>
            <a:srgbClr val="213559"/>
          </a:solidFill>
        </p:spPr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980255" y="3119856"/>
            <a:ext cx="9840949" cy="6027581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57827" y="4925483"/>
            <a:ext cx="7153592" cy="396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000000"/>
                </a:solidFill>
                <a:latin typeface="Montserrat Extra-Bold Bold"/>
              </a:rPr>
              <a:t>TAKEAWAY 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7140" y="5594834"/>
            <a:ext cx="5160624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49"/>
              </a:lnSpc>
            </a:pPr>
            <a:r>
              <a:rPr lang="en-US" sz="2499" spc="49">
                <a:solidFill>
                  <a:srgbClr val="000000"/>
                </a:solidFill>
                <a:latin typeface="Montserrat"/>
              </a:rPr>
              <a:t>Age and cost have positive co-relation, as age increases healthcare expenses increase.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1753206">
            <a:off x="-1113304" y="4354356"/>
            <a:ext cx="25783492" cy="9586163"/>
          </a:xfrm>
          <a:prstGeom prst="rect">
            <a:avLst/>
          </a:prstGeom>
          <a:solidFill>
            <a:srgbClr val="545454">
              <a:alpha val="4706"/>
            </a:srgbClr>
          </a:solidFill>
        </p:spPr>
      </p:sp>
      <p:sp>
        <p:nvSpPr>
          <p:cNvPr id="3" name="AutoShape 3"/>
          <p:cNvSpPr/>
          <p:nvPr/>
        </p:nvSpPr>
        <p:spPr>
          <a:xfrm rot="-8231889">
            <a:off x="-10109114" y="6176620"/>
            <a:ext cx="16230600" cy="10441156"/>
          </a:xfrm>
          <a:prstGeom prst="rect">
            <a:avLst/>
          </a:prstGeom>
          <a:solidFill>
            <a:srgbClr val="213559"/>
          </a:solidFill>
        </p:spPr>
      </p:sp>
      <p:sp>
        <p:nvSpPr>
          <p:cNvPr id="4" name="AutoShape 4"/>
          <p:cNvSpPr/>
          <p:nvPr/>
        </p:nvSpPr>
        <p:spPr>
          <a:xfrm rot="-8231889">
            <a:off x="-10507643" y="6538090"/>
            <a:ext cx="16230600" cy="10441156"/>
          </a:xfrm>
          <a:prstGeom prst="rect">
            <a:avLst/>
          </a:prstGeom>
          <a:solidFill>
            <a:srgbClr val="263F6B"/>
          </a:solidFill>
        </p:spPr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1028700"/>
            <a:ext cx="1783058" cy="29501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7452893" y="7316416"/>
            <a:ext cx="2556816" cy="257554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-1730039" y="1733723"/>
            <a:ext cx="2556816" cy="2575547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25437" y="1733723"/>
            <a:ext cx="1386321" cy="0"/>
          </a:xfrm>
          <a:prstGeom prst="line">
            <a:avLst/>
          </a:prstGeom>
          <a:ln w="76200" cap="flat">
            <a:solidFill>
              <a:srgbClr val="263F6B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823388" y="2197916"/>
            <a:ext cx="11283155" cy="7342866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3823388" y="1042818"/>
            <a:ext cx="12588882" cy="76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703"/>
              </a:lnSpc>
            </a:pPr>
            <a:r>
              <a:rPr lang="en-US" sz="5819" spc="-343">
                <a:solidFill>
                  <a:srgbClr val="263F6B"/>
                </a:solidFill>
                <a:latin typeface="Montserrat Extra-Bold Italics"/>
              </a:rPr>
              <a:t>HYPERTENSION VS FREQUENCY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1753206">
            <a:off x="-1113304" y="4354356"/>
            <a:ext cx="25783492" cy="9586163"/>
          </a:xfrm>
          <a:prstGeom prst="rect">
            <a:avLst/>
          </a:prstGeom>
          <a:solidFill>
            <a:srgbClr val="545454">
              <a:alpha val="4706"/>
            </a:srgbClr>
          </a:solidFill>
        </p:spPr>
      </p:sp>
      <p:sp>
        <p:nvSpPr>
          <p:cNvPr id="3" name="AutoShape 3"/>
          <p:cNvSpPr/>
          <p:nvPr/>
        </p:nvSpPr>
        <p:spPr>
          <a:xfrm rot="-8231889">
            <a:off x="-10109114" y="6176620"/>
            <a:ext cx="16230600" cy="10441156"/>
          </a:xfrm>
          <a:prstGeom prst="rect">
            <a:avLst/>
          </a:prstGeom>
          <a:solidFill>
            <a:srgbClr val="213559"/>
          </a:solidFill>
        </p:spPr>
      </p:sp>
      <p:sp>
        <p:nvSpPr>
          <p:cNvPr id="4" name="AutoShape 4"/>
          <p:cNvSpPr/>
          <p:nvPr/>
        </p:nvSpPr>
        <p:spPr>
          <a:xfrm rot="-8231889">
            <a:off x="-10507643" y="6538090"/>
            <a:ext cx="16230600" cy="10441156"/>
          </a:xfrm>
          <a:prstGeom prst="rect">
            <a:avLst/>
          </a:prstGeom>
          <a:solidFill>
            <a:srgbClr val="263F6B"/>
          </a:solidFill>
        </p:spPr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1028700"/>
            <a:ext cx="1783058" cy="29501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7452893" y="7316416"/>
            <a:ext cx="2556816" cy="257554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-1730039" y="1733723"/>
            <a:ext cx="2556816" cy="2575547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25437" y="1733723"/>
            <a:ext cx="1386321" cy="0"/>
          </a:xfrm>
          <a:prstGeom prst="line">
            <a:avLst/>
          </a:prstGeom>
          <a:ln w="76200" cap="flat">
            <a:solidFill>
              <a:srgbClr val="263F6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9711170" y="3421370"/>
            <a:ext cx="6277183" cy="5149086"/>
            <a:chOff x="0" y="0"/>
            <a:chExt cx="8369578" cy="6865448"/>
          </a:xfrm>
        </p:grpSpPr>
        <p:sp>
          <p:nvSpPr>
            <p:cNvPr id="10" name="TextBox 10"/>
            <p:cNvSpPr txBox="1"/>
            <p:nvPr/>
          </p:nvSpPr>
          <p:spPr>
            <a:xfrm rot="-2700000">
              <a:off x="83057" y="5729989"/>
              <a:ext cx="2078812" cy="367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3"/>
                </a:lnSpc>
              </a:pPr>
              <a:r>
                <a:rPr lang="en-US" sz="1702">
                  <a:solidFill>
                    <a:srgbClr val="000000"/>
                  </a:solidFill>
                  <a:latin typeface="Canva Sans"/>
                </a:rPr>
                <a:t>CONNECTICUT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 rot="-2700000">
              <a:off x="1504892" y="5756862"/>
              <a:ext cx="2154819" cy="367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3"/>
                </a:lnSpc>
              </a:pPr>
              <a:r>
                <a:rPr lang="en-US" sz="1702">
                  <a:solidFill>
                    <a:srgbClr val="000000"/>
                  </a:solidFill>
                  <a:latin typeface="Canva Sans"/>
                </a:rPr>
                <a:t>RHODE ISLAND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 rot="-2700000">
              <a:off x="2951476" y="5773483"/>
              <a:ext cx="2201831" cy="367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3"/>
                </a:lnSpc>
              </a:pPr>
              <a:r>
                <a:rPr lang="en-US" sz="1702">
                  <a:solidFill>
                    <a:srgbClr val="000000"/>
                  </a:solidFill>
                  <a:latin typeface="Canva Sans"/>
                </a:rPr>
                <a:t>PENNSYLVANIA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 rot="-2700000">
              <a:off x="4795129" y="5625633"/>
              <a:ext cx="1783648" cy="367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3"/>
                </a:lnSpc>
              </a:pPr>
              <a:r>
                <a:rPr lang="en-US" sz="1702">
                  <a:solidFill>
                    <a:srgbClr val="000000"/>
                  </a:solidFill>
                  <a:latin typeface="Canva Sans"/>
                </a:rPr>
                <a:t>NEW JERSEY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 rot="-2700000">
              <a:off x="6517559" y="5527995"/>
              <a:ext cx="1507487" cy="367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3"/>
                </a:lnSpc>
              </a:pPr>
              <a:r>
                <a:rPr lang="en-US" sz="1702">
                  <a:solidFill>
                    <a:srgbClr val="000000"/>
                  </a:solidFill>
                  <a:latin typeface="Canva Sans"/>
                </a:rPr>
                <a:t>NEW YORK</a:t>
              </a:r>
            </a:p>
          </p:txBody>
        </p:sp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1072835" y="169356"/>
              <a:ext cx="7296743" cy="4705919"/>
              <a:chOff x="0" y="0"/>
              <a:chExt cx="10287000" cy="6634438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-6350"/>
                <a:ext cx="102870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0287000" h="12700">
                    <a:moveTo>
                      <a:pt x="0" y="0"/>
                    </a:moveTo>
                    <a:lnTo>
                      <a:pt x="10287000" y="0"/>
                    </a:lnTo>
                    <a:lnTo>
                      <a:pt x="10287000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>
                  <a:alpha val="24706"/>
                </a:srgbClr>
              </a:solidFill>
            </p:spPr>
          </p:sp>
          <p:sp>
            <p:nvSpPr>
              <p:cNvPr id="17" name="Freeform 17"/>
              <p:cNvSpPr/>
              <p:nvPr/>
            </p:nvSpPr>
            <p:spPr>
              <a:xfrm>
                <a:off x="0" y="1320538"/>
                <a:ext cx="102870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0287000" h="12700">
                    <a:moveTo>
                      <a:pt x="0" y="0"/>
                    </a:moveTo>
                    <a:lnTo>
                      <a:pt x="10287000" y="0"/>
                    </a:lnTo>
                    <a:lnTo>
                      <a:pt x="10287000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>
                  <a:alpha val="24706"/>
                </a:srgbClr>
              </a:solidFill>
            </p:spPr>
          </p:sp>
          <p:sp>
            <p:nvSpPr>
              <p:cNvPr id="18" name="Freeform 18"/>
              <p:cNvSpPr/>
              <p:nvPr/>
            </p:nvSpPr>
            <p:spPr>
              <a:xfrm>
                <a:off x="0" y="2647425"/>
                <a:ext cx="102870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0287000" h="12700">
                    <a:moveTo>
                      <a:pt x="0" y="0"/>
                    </a:moveTo>
                    <a:lnTo>
                      <a:pt x="10287000" y="0"/>
                    </a:lnTo>
                    <a:lnTo>
                      <a:pt x="10287000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>
                  <a:alpha val="24706"/>
                </a:srgbClr>
              </a:solidFill>
            </p:spPr>
          </p:sp>
          <p:sp>
            <p:nvSpPr>
              <p:cNvPr id="19" name="Freeform 19"/>
              <p:cNvSpPr/>
              <p:nvPr/>
            </p:nvSpPr>
            <p:spPr>
              <a:xfrm>
                <a:off x="0" y="3974313"/>
                <a:ext cx="102870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0287000" h="12700">
                    <a:moveTo>
                      <a:pt x="0" y="0"/>
                    </a:moveTo>
                    <a:lnTo>
                      <a:pt x="10287000" y="0"/>
                    </a:lnTo>
                    <a:lnTo>
                      <a:pt x="10287000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>
                  <a:alpha val="24706"/>
                </a:srgbClr>
              </a:solidFill>
            </p:spPr>
          </p:sp>
          <p:sp>
            <p:nvSpPr>
              <p:cNvPr id="20" name="Freeform 20"/>
              <p:cNvSpPr/>
              <p:nvPr/>
            </p:nvSpPr>
            <p:spPr>
              <a:xfrm>
                <a:off x="0" y="5301200"/>
                <a:ext cx="102870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0287000" h="12700">
                    <a:moveTo>
                      <a:pt x="0" y="0"/>
                    </a:moveTo>
                    <a:lnTo>
                      <a:pt x="10287000" y="0"/>
                    </a:lnTo>
                    <a:lnTo>
                      <a:pt x="10287000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>
                  <a:alpha val="24706"/>
                </a:srgbClr>
              </a:solidFill>
            </p:spPr>
          </p:sp>
          <p:sp>
            <p:nvSpPr>
              <p:cNvPr id="21" name="Freeform 21"/>
              <p:cNvSpPr/>
              <p:nvPr/>
            </p:nvSpPr>
            <p:spPr>
              <a:xfrm>
                <a:off x="0" y="6628088"/>
                <a:ext cx="102870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0287000" h="12700">
                    <a:moveTo>
                      <a:pt x="0" y="0"/>
                    </a:moveTo>
                    <a:lnTo>
                      <a:pt x="10287000" y="0"/>
                    </a:lnTo>
                    <a:lnTo>
                      <a:pt x="10287000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>
                  <a:alpha val="60000"/>
                </a:srgbClr>
              </a:solidFill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4082" y="-28575"/>
              <a:ext cx="924620" cy="367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83"/>
                </a:lnSpc>
              </a:pPr>
              <a:r>
                <a:rPr lang="en-US" sz="1702">
                  <a:solidFill>
                    <a:srgbClr val="000000"/>
                  </a:solidFill>
                  <a:latin typeface="Canva Sans"/>
                </a:rPr>
                <a:t>5,000 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912609"/>
              <a:ext cx="928702" cy="367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83"/>
                </a:lnSpc>
              </a:pPr>
              <a:r>
                <a:rPr lang="en-US" sz="1702">
                  <a:solidFill>
                    <a:srgbClr val="000000"/>
                  </a:solidFill>
                  <a:latin typeface="Canva Sans"/>
                </a:rPr>
                <a:t>4,000 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79" y="1853792"/>
              <a:ext cx="921523" cy="367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83"/>
                </a:lnSpc>
              </a:pPr>
              <a:r>
                <a:rPr lang="en-US" sz="1702">
                  <a:solidFill>
                    <a:srgbClr val="000000"/>
                  </a:solidFill>
                  <a:latin typeface="Canva Sans"/>
                </a:rPr>
                <a:t>3,000 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187" y="2794976"/>
              <a:ext cx="912515" cy="367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83"/>
                </a:lnSpc>
              </a:pPr>
              <a:r>
                <a:rPr lang="en-US" sz="1702">
                  <a:solidFill>
                    <a:srgbClr val="000000"/>
                  </a:solidFill>
                  <a:latin typeface="Canva Sans"/>
                </a:rPr>
                <a:t>2,000 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973" y="3736160"/>
              <a:ext cx="907729" cy="367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83"/>
                </a:lnSpc>
              </a:pPr>
              <a:r>
                <a:rPr lang="en-US" sz="1702">
                  <a:solidFill>
                    <a:srgbClr val="000000"/>
                  </a:solidFill>
                  <a:latin typeface="Canva Sans"/>
                </a:rPr>
                <a:t>1,000 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5637" y="4677344"/>
              <a:ext cx="273065" cy="367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383"/>
                </a:lnSpc>
              </a:pPr>
              <a:r>
                <a:rPr lang="en-US" sz="1702">
                  <a:solidFill>
                    <a:srgbClr val="000000"/>
                  </a:solidFill>
                  <a:latin typeface="Canva Sans"/>
                </a:rPr>
                <a:t>0 </a:t>
              </a:r>
            </a:p>
          </p:txBody>
        </p:sp>
        <p:grpSp>
          <p:nvGrpSpPr>
            <p:cNvPr id="28" name="Group 28"/>
            <p:cNvGrpSpPr>
              <a:grpSpLocks noChangeAspect="1"/>
            </p:cNvGrpSpPr>
            <p:nvPr/>
          </p:nvGrpSpPr>
          <p:grpSpPr>
            <a:xfrm>
              <a:off x="1072835" y="483437"/>
              <a:ext cx="7296743" cy="4391838"/>
              <a:chOff x="0" y="442793"/>
              <a:chExt cx="10287000" cy="619164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1522863"/>
                <a:ext cx="1903095" cy="5111575"/>
              </a:xfrm>
              <a:custGeom>
                <a:avLst/>
                <a:gdLst/>
                <a:ahLst/>
                <a:cxnLst/>
                <a:rect l="l" t="t" r="r" b="b"/>
                <a:pathLst>
                  <a:path w="1903095" h="5111575">
                    <a:moveTo>
                      <a:pt x="0" y="5111575"/>
                    </a:moveTo>
                    <a:lnTo>
                      <a:pt x="0" y="152247"/>
                    </a:lnTo>
                    <a:lnTo>
                      <a:pt x="0" y="152247"/>
                    </a:lnTo>
                    <a:cubicBezTo>
                      <a:pt x="0" y="68163"/>
                      <a:pt x="68164" y="0"/>
                      <a:pt x="152248" y="0"/>
                    </a:cubicBezTo>
                    <a:lnTo>
                      <a:pt x="1750847" y="0"/>
                    </a:lnTo>
                    <a:cubicBezTo>
                      <a:pt x="1791226" y="0"/>
                      <a:pt x="1829951" y="16040"/>
                      <a:pt x="1858503" y="44592"/>
                    </a:cubicBezTo>
                    <a:cubicBezTo>
                      <a:pt x="1887055" y="73144"/>
                      <a:pt x="1903095" y="111869"/>
                      <a:pt x="1903095" y="152247"/>
                    </a:cubicBezTo>
                    <a:lnTo>
                      <a:pt x="1903095" y="5111575"/>
                    </a:lnTo>
                    <a:close/>
                  </a:path>
                </a:pathLst>
              </a:custGeom>
              <a:solidFill>
                <a:srgbClr val="DA736E"/>
              </a:solidFill>
            </p:spPr>
          </p:sp>
          <p:sp>
            <p:nvSpPr>
              <p:cNvPr id="30" name="Freeform 30"/>
              <p:cNvSpPr/>
              <p:nvPr/>
            </p:nvSpPr>
            <p:spPr>
              <a:xfrm>
                <a:off x="2095976" y="1253144"/>
                <a:ext cx="1903095" cy="5381294"/>
              </a:xfrm>
              <a:custGeom>
                <a:avLst/>
                <a:gdLst/>
                <a:ahLst/>
                <a:cxnLst/>
                <a:rect l="l" t="t" r="r" b="b"/>
                <a:pathLst>
                  <a:path w="1903095" h="5381294">
                    <a:moveTo>
                      <a:pt x="0" y="5381294"/>
                    </a:moveTo>
                    <a:lnTo>
                      <a:pt x="0" y="152247"/>
                    </a:lnTo>
                    <a:cubicBezTo>
                      <a:pt x="0" y="68163"/>
                      <a:pt x="68164" y="0"/>
                      <a:pt x="152248" y="0"/>
                    </a:cubicBezTo>
                    <a:lnTo>
                      <a:pt x="1750848" y="0"/>
                    </a:lnTo>
                    <a:cubicBezTo>
                      <a:pt x="1791226" y="0"/>
                      <a:pt x="1829951" y="16040"/>
                      <a:pt x="1858503" y="44592"/>
                    </a:cubicBezTo>
                    <a:cubicBezTo>
                      <a:pt x="1887055" y="73144"/>
                      <a:pt x="1903095" y="111869"/>
                      <a:pt x="1903095" y="152247"/>
                    </a:cubicBezTo>
                    <a:lnTo>
                      <a:pt x="1903095" y="5381294"/>
                    </a:lnTo>
                    <a:close/>
                  </a:path>
                </a:pathLst>
              </a:custGeom>
              <a:solidFill>
                <a:srgbClr val="DA736E"/>
              </a:solidFill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191953" y="1289867"/>
                <a:ext cx="1903095" cy="5344571"/>
              </a:xfrm>
              <a:custGeom>
                <a:avLst/>
                <a:gdLst/>
                <a:ahLst/>
                <a:cxnLst/>
                <a:rect l="l" t="t" r="r" b="b"/>
                <a:pathLst>
                  <a:path w="1903095" h="5344571">
                    <a:moveTo>
                      <a:pt x="0" y="5344571"/>
                    </a:moveTo>
                    <a:lnTo>
                      <a:pt x="0" y="152247"/>
                    </a:lnTo>
                    <a:cubicBezTo>
                      <a:pt x="0" y="68163"/>
                      <a:pt x="68163" y="0"/>
                      <a:pt x="152247" y="0"/>
                    </a:cubicBezTo>
                    <a:lnTo>
                      <a:pt x="1750847" y="0"/>
                    </a:lnTo>
                    <a:cubicBezTo>
                      <a:pt x="1834931" y="0"/>
                      <a:pt x="1903094" y="68163"/>
                      <a:pt x="1903094" y="152247"/>
                    </a:cubicBezTo>
                    <a:lnTo>
                      <a:pt x="1903094" y="5344571"/>
                    </a:lnTo>
                    <a:close/>
                  </a:path>
                </a:pathLst>
              </a:custGeom>
              <a:solidFill>
                <a:srgbClr val="DA736E"/>
              </a:solidFill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287929" y="1412671"/>
                <a:ext cx="1903095" cy="5221766"/>
              </a:xfrm>
              <a:custGeom>
                <a:avLst/>
                <a:gdLst/>
                <a:ahLst/>
                <a:cxnLst/>
                <a:rect l="l" t="t" r="r" b="b"/>
                <a:pathLst>
                  <a:path w="1903095" h="5221766">
                    <a:moveTo>
                      <a:pt x="0" y="5221767"/>
                    </a:moveTo>
                    <a:lnTo>
                      <a:pt x="0" y="152248"/>
                    </a:lnTo>
                    <a:cubicBezTo>
                      <a:pt x="0" y="111869"/>
                      <a:pt x="16040" y="73145"/>
                      <a:pt x="44592" y="44593"/>
                    </a:cubicBezTo>
                    <a:cubicBezTo>
                      <a:pt x="73144" y="16041"/>
                      <a:pt x="111869" y="0"/>
                      <a:pt x="152247" y="0"/>
                    </a:cubicBezTo>
                    <a:lnTo>
                      <a:pt x="1750847" y="0"/>
                    </a:lnTo>
                    <a:cubicBezTo>
                      <a:pt x="1791226" y="0"/>
                      <a:pt x="1829951" y="16041"/>
                      <a:pt x="1858502" y="44593"/>
                    </a:cubicBezTo>
                    <a:cubicBezTo>
                      <a:pt x="1887055" y="73145"/>
                      <a:pt x="1903095" y="111869"/>
                      <a:pt x="1903095" y="152248"/>
                    </a:cubicBezTo>
                    <a:lnTo>
                      <a:pt x="1903095" y="5221767"/>
                    </a:lnTo>
                    <a:close/>
                  </a:path>
                </a:pathLst>
              </a:custGeom>
              <a:solidFill>
                <a:srgbClr val="DA736E"/>
              </a:solidFill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3905" y="442794"/>
                <a:ext cx="1903095" cy="6191644"/>
              </a:xfrm>
              <a:custGeom>
                <a:avLst/>
                <a:gdLst/>
                <a:ahLst/>
                <a:cxnLst/>
                <a:rect l="l" t="t" r="r" b="b"/>
                <a:pathLst>
                  <a:path w="1903095" h="6191644">
                    <a:moveTo>
                      <a:pt x="0" y="6191644"/>
                    </a:moveTo>
                    <a:lnTo>
                      <a:pt x="0" y="152247"/>
                    </a:lnTo>
                    <a:cubicBezTo>
                      <a:pt x="0" y="68163"/>
                      <a:pt x="68164" y="0"/>
                      <a:pt x="152248" y="0"/>
                    </a:cubicBezTo>
                    <a:lnTo>
                      <a:pt x="1750848" y="0"/>
                    </a:lnTo>
                    <a:cubicBezTo>
                      <a:pt x="1834932" y="0"/>
                      <a:pt x="1903095" y="68163"/>
                      <a:pt x="1903095" y="152247"/>
                    </a:cubicBezTo>
                    <a:lnTo>
                      <a:pt x="1903095" y="6191644"/>
                    </a:lnTo>
                    <a:close/>
                  </a:path>
                </a:pathLst>
              </a:custGeom>
              <a:solidFill>
                <a:srgbClr val="DA736E"/>
              </a:solidFill>
            </p:spPr>
          </p:sp>
        </p:grpSp>
      </p:grpSp>
      <p:pic>
        <p:nvPicPr>
          <p:cNvPr id="34" name="Picture 34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425437" y="3421370"/>
            <a:ext cx="6311417" cy="3895046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3270293" y="1171575"/>
            <a:ext cx="15017707" cy="908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803"/>
              </a:lnSpc>
            </a:pPr>
            <a:r>
              <a:rPr lang="en-US" sz="6942" spc="-409">
                <a:solidFill>
                  <a:srgbClr val="263F6B"/>
                </a:solidFill>
                <a:latin typeface="Montserrat Extra-Bold Italics"/>
              </a:rPr>
              <a:t>MEAN COST BASED ON LOCATION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393029" y="7883597"/>
            <a:ext cx="5750971" cy="1849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1641" lvl="1" indent="-305820">
              <a:lnSpc>
                <a:spcPts val="3682"/>
              </a:lnSpc>
              <a:buFont typeface="Arial"/>
              <a:buChar char="•"/>
            </a:pPr>
            <a:r>
              <a:rPr lang="en-US" sz="2832" spc="56">
                <a:solidFill>
                  <a:srgbClr val="263F6B"/>
                </a:solidFill>
                <a:latin typeface="Montserrat Bold"/>
              </a:rPr>
              <a:t>NEW YORKERS' </a:t>
            </a:r>
            <a:r>
              <a:rPr lang="en-US" sz="2832" spc="56">
                <a:solidFill>
                  <a:srgbClr val="263F6B"/>
                </a:solidFill>
                <a:latin typeface="Montserrat"/>
              </a:rPr>
              <a:t>mean</a:t>
            </a:r>
            <a:r>
              <a:rPr lang="en-US" sz="2832" spc="56">
                <a:solidFill>
                  <a:srgbClr val="263F6B"/>
                </a:solidFill>
                <a:latin typeface="Montserrat Bold"/>
              </a:rPr>
              <a:t> </a:t>
            </a:r>
            <a:r>
              <a:rPr lang="en-US" sz="2832" spc="56">
                <a:solidFill>
                  <a:srgbClr val="263F6B"/>
                </a:solidFill>
                <a:latin typeface="Montserrat"/>
              </a:rPr>
              <a:t>Healthcare Expenses is costlier compared to other states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58917" y="1392084"/>
            <a:ext cx="9917389" cy="159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36"/>
              </a:lnSpc>
            </a:pPr>
            <a:r>
              <a:rPr lang="en-US" sz="6261" spc="-369">
                <a:solidFill>
                  <a:srgbClr val="263F6B"/>
                </a:solidFill>
                <a:latin typeface="Montserrat Extra-Bold"/>
              </a:rPr>
              <a:t>CORRELATION OF COST AND BMI</a:t>
            </a:r>
          </a:p>
        </p:txBody>
      </p:sp>
      <p:sp>
        <p:nvSpPr>
          <p:cNvPr id="3" name="AutoShape 3"/>
          <p:cNvSpPr/>
          <p:nvPr/>
        </p:nvSpPr>
        <p:spPr>
          <a:xfrm rot="-1753206">
            <a:off x="-1113304" y="4354356"/>
            <a:ext cx="25783492" cy="9586163"/>
          </a:xfrm>
          <a:prstGeom prst="rect">
            <a:avLst/>
          </a:prstGeom>
          <a:solidFill>
            <a:srgbClr val="545454">
              <a:alpha val="4706"/>
            </a:srgbClr>
          </a:solidFill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2129089"/>
            <a:ext cx="1783058" cy="295015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8156196"/>
            <a:ext cx="1783058" cy="295015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28700" y="9591065"/>
            <a:ext cx="16230600" cy="1351653"/>
          </a:xfrm>
          <a:prstGeom prst="rect">
            <a:avLst/>
          </a:prstGeom>
          <a:solidFill>
            <a:srgbClr val="213559"/>
          </a:solidFill>
        </p:spPr>
      </p:sp>
      <p:sp>
        <p:nvSpPr>
          <p:cNvPr id="7" name="AutoShape 7"/>
          <p:cNvSpPr/>
          <p:nvPr/>
        </p:nvSpPr>
        <p:spPr>
          <a:xfrm>
            <a:off x="1028700" y="-675827"/>
            <a:ext cx="16230600" cy="1351653"/>
          </a:xfrm>
          <a:prstGeom prst="rect">
            <a:avLst/>
          </a:prstGeom>
          <a:solidFill>
            <a:srgbClr val="213559"/>
          </a:solidFill>
        </p:spPr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211077" y="3268861"/>
            <a:ext cx="9134731" cy="5752026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028700" y="4935537"/>
            <a:ext cx="7153592" cy="396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>
              <a:lnSpc>
                <a:spcPts val="3249"/>
              </a:lnSpc>
              <a:buFont typeface="Arial"/>
              <a:buChar char="•"/>
            </a:pPr>
            <a:r>
              <a:rPr lang="en-US" sz="2499" spc="49">
                <a:solidFill>
                  <a:srgbClr val="000000"/>
                </a:solidFill>
                <a:latin typeface="Montserrat Extra-Bold Bold"/>
              </a:rPr>
              <a:t>TAKEAWAY 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8357" y="5527336"/>
            <a:ext cx="5559113" cy="162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49"/>
              </a:lnSpc>
            </a:pPr>
            <a:r>
              <a:rPr lang="en-US" sz="2499" spc="49">
                <a:solidFill>
                  <a:srgbClr val="000000"/>
                </a:solidFill>
                <a:latin typeface="Montserrat"/>
              </a:rPr>
              <a:t>For people who have an active lifestyle, their cost of healthcare is way less than people with inactive lifestyle.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1753206">
            <a:off x="-1113304" y="4354356"/>
            <a:ext cx="25783492" cy="9586163"/>
          </a:xfrm>
          <a:prstGeom prst="rect">
            <a:avLst/>
          </a:prstGeom>
          <a:solidFill>
            <a:srgbClr val="545454">
              <a:alpha val="4706"/>
            </a:srgbClr>
          </a:solidFill>
        </p:spPr>
      </p:sp>
      <p:sp>
        <p:nvSpPr>
          <p:cNvPr id="3" name="AutoShape 3"/>
          <p:cNvSpPr/>
          <p:nvPr/>
        </p:nvSpPr>
        <p:spPr>
          <a:xfrm rot="-8231889">
            <a:off x="-10109114" y="6176620"/>
            <a:ext cx="16230600" cy="10441156"/>
          </a:xfrm>
          <a:prstGeom prst="rect">
            <a:avLst/>
          </a:prstGeom>
          <a:solidFill>
            <a:srgbClr val="213559"/>
          </a:solidFill>
        </p:spPr>
      </p:sp>
      <p:sp>
        <p:nvSpPr>
          <p:cNvPr id="4" name="AutoShape 4"/>
          <p:cNvSpPr/>
          <p:nvPr/>
        </p:nvSpPr>
        <p:spPr>
          <a:xfrm rot="-8231889">
            <a:off x="-10507643" y="6538090"/>
            <a:ext cx="16230600" cy="10441156"/>
          </a:xfrm>
          <a:prstGeom prst="rect">
            <a:avLst/>
          </a:prstGeom>
          <a:solidFill>
            <a:srgbClr val="263F6B"/>
          </a:solidFill>
        </p:spPr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1028700"/>
            <a:ext cx="1783058" cy="29501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7452893" y="7316416"/>
            <a:ext cx="2556816" cy="257554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-1730039" y="1733723"/>
            <a:ext cx="2556816" cy="2575547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25437" y="1733723"/>
            <a:ext cx="1386321" cy="0"/>
          </a:xfrm>
          <a:prstGeom prst="line">
            <a:avLst/>
          </a:prstGeom>
          <a:ln w="76200" cap="flat">
            <a:solidFill>
              <a:srgbClr val="263F6B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863237" y="2052757"/>
            <a:ext cx="11220988" cy="7477736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3863237" y="793735"/>
            <a:ext cx="16146472" cy="978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314"/>
              </a:lnSpc>
            </a:pPr>
            <a:r>
              <a:rPr lang="en-US" sz="7464" spc="-440">
                <a:solidFill>
                  <a:srgbClr val="263F6B"/>
                </a:solidFill>
                <a:latin typeface="Montserrat Extra-Bold Italics"/>
              </a:rPr>
              <a:t>BMI VS FREQUENCY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1753206">
            <a:off x="-1103779" y="4354356"/>
            <a:ext cx="25783492" cy="9586163"/>
          </a:xfrm>
          <a:prstGeom prst="rect">
            <a:avLst/>
          </a:prstGeom>
          <a:solidFill>
            <a:srgbClr val="545454">
              <a:alpha val="4706"/>
            </a:srgbClr>
          </a:solidFill>
        </p:spPr>
      </p:sp>
      <p:grpSp>
        <p:nvGrpSpPr>
          <p:cNvPr id="3" name="Group 3"/>
          <p:cNvGrpSpPr/>
          <p:nvPr/>
        </p:nvGrpSpPr>
        <p:grpSpPr>
          <a:xfrm>
            <a:off x="9813747" y="-1772784"/>
            <a:ext cx="16230600" cy="16230600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263F6B"/>
            </a:solid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0552485" y="338329"/>
            <a:ext cx="12008422" cy="12008374"/>
            <a:chOff x="0" y="0"/>
            <a:chExt cx="6350000" cy="63499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4976" r="-24976"/>
              </a:stretch>
            </a:blipFill>
          </p:spPr>
        </p:sp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5835200" y="9506396"/>
            <a:ext cx="1783058" cy="29501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028700" y="1028700"/>
            <a:ext cx="1783058" cy="29501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848318" y="1641934"/>
            <a:ext cx="9704167" cy="923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903"/>
              </a:lnSpc>
            </a:pPr>
            <a:r>
              <a:rPr lang="en-US" sz="7043" spc="-415">
                <a:solidFill>
                  <a:srgbClr val="263F6B"/>
                </a:solidFill>
                <a:latin typeface="Montserrat Extra-Bold"/>
              </a:rPr>
              <a:t>RECOMMENDATIONS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8318" y="2708076"/>
            <a:ext cx="7447591" cy="5126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8249" lvl="1" indent="-249124">
              <a:lnSpc>
                <a:spcPts val="5192"/>
              </a:lnSpc>
              <a:buFont typeface="Arial"/>
              <a:buChar char="•"/>
            </a:pPr>
            <a:r>
              <a:rPr lang="en-US" sz="2307" spc="46">
                <a:solidFill>
                  <a:srgbClr val="212423"/>
                </a:solidFill>
                <a:latin typeface="Montserrat"/>
              </a:rPr>
              <a:t>Healthcare programs for obese people</a:t>
            </a:r>
          </a:p>
          <a:p>
            <a:pPr marL="498249" lvl="1" indent="-249124">
              <a:lnSpc>
                <a:spcPts val="5192"/>
              </a:lnSpc>
              <a:buFont typeface="Arial"/>
              <a:buChar char="•"/>
            </a:pPr>
            <a:r>
              <a:rPr lang="en-US" sz="2307" spc="46">
                <a:solidFill>
                  <a:srgbClr val="212423"/>
                </a:solidFill>
                <a:latin typeface="Montserrat"/>
              </a:rPr>
              <a:t>De-addiction program for smokers</a:t>
            </a:r>
          </a:p>
          <a:p>
            <a:pPr marL="498249" lvl="1" indent="-249124">
              <a:lnSpc>
                <a:spcPts val="5192"/>
              </a:lnSpc>
              <a:buFont typeface="Arial"/>
              <a:buChar char="•"/>
            </a:pPr>
            <a:r>
              <a:rPr lang="en-US" sz="2307" spc="46">
                <a:solidFill>
                  <a:srgbClr val="212423"/>
                </a:solidFill>
                <a:latin typeface="Montserrat"/>
              </a:rPr>
              <a:t>Family insurance plan for people with 1-4 Children.</a:t>
            </a:r>
          </a:p>
          <a:p>
            <a:pPr marL="498249" lvl="1" indent="-249124">
              <a:lnSpc>
                <a:spcPts val="5192"/>
              </a:lnSpc>
              <a:buFont typeface="Arial"/>
              <a:buChar char="•"/>
            </a:pPr>
            <a:r>
              <a:rPr lang="en-US" sz="2307" spc="46">
                <a:solidFill>
                  <a:srgbClr val="212423"/>
                </a:solidFill>
                <a:latin typeface="Montserrat"/>
              </a:rPr>
              <a:t>Suggest People with 0.5 hypertension take precautionary medical care</a:t>
            </a:r>
          </a:p>
          <a:p>
            <a:pPr>
              <a:lnSpc>
                <a:spcPts val="5192"/>
              </a:lnSpc>
            </a:pPr>
            <a:endParaRPr lang="en-US" sz="2307" spc="46">
              <a:solidFill>
                <a:srgbClr val="212423"/>
              </a:solidFill>
              <a:latin typeface="Montserrat"/>
            </a:endParaRPr>
          </a:p>
          <a:p>
            <a:pPr>
              <a:lnSpc>
                <a:spcPts val="5192"/>
              </a:lnSpc>
            </a:pPr>
            <a:endParaRPr lang="en-US" sz="2307" spc="46">
              <a:solidFill>
                <a:srgbClr val="212423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1753206">
            <a:off x="-1113304" y="4354356"/>
            <a:ext cx="25783492" cy="9586163"/>
          </a:xfrm>
          <a:prstGeom prst="rect">
            <a:avLst/>
          </a:prstGeom>
          <a:solidFill>
            <a:srgbClr val="DCDDDC">
              <a:alpha val="6667"/>
            </a:srgbClr>
          </a:solidFill>
        </p:spPr>
      </p:sp>
      <p:grpSp>
        <p:nvGrpSpPr>
          <p:cNvPr id="3" name="Group 3"/>
          <p:cNvGrpSpPr/>
          <p:nvPr/>
        </p:nvGrpSpPr>
        <p:grpSpPr>
          <a:xfrm>
            <a:off x="2011557" y="1992489"/>
            <a:ext cx="3697405" cy="1446681"/>
            <a:chOff x="0" y="0"/>
            <a:chExt cx="1687841" cy="660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87841" cy="660400"/>
            </a:xfrm>
            <a:custGeom>
              <a:avLst/>
              <a:gdLst/>
              <a:ahLst/>
              <a:cxnLst/>
              <a:rect l="l" t="t" r="r" b="b"/>
              <a:pathLst>
                <a:path w="1687841" h="660400">
                  <a:moveTo>
                    <a:pt x="1563381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63381" y="0"/>
                  </a:lnTo>
                  <a:cubicBezTo>
                    <a:pt x="1631961" y="0"/>
                    <a:pt x="1687841" y="55880"/>
                    <a:pt x="1687841" y="124460"/>
                  </a:cubicBezTo>
                  <a:lnTo>
                    <a:pt x="1687841" y="535940"/>
                  </a:lnTo>
                  <a:cubicBezTo>
                    <a:pt x="1687841" y="604520"/>
                    <a:pt x="1631961" y="660400"/>
                    <a:pt x="1563381" y="660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2632578" y="7782221"/>
            <a:ext cx="3772542" cy="1476079"/>
            <a:chOff x="0" y="0"/>
            <a:chExt cx="1687841" cy="660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7841" cy="660400"/>
            </a:xfrm>
            <a:custGeom>
              <a:avLst/>
              <a:gdLst/>
              <a:ahLst/>
              <a:cxnLst/>
              <a:rect l="l" t="t" r="r" b="b"/>
              <a:pathLst>
                <a:path w="1687841" h="660400">
                  <a:moveTo>
                    <a:pt x="1563381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63381" y="0"/>
                  </a:lnTo>
                  <a:cubicBezTo>
                    <a:pt x="1631961" y="0"/>
                    <a:pt x="1687841" y="55880"/>
                    <a:pt x="1687841" y="124460"/>
                  </a:cubicBezTo>
                  <a:lnTo>
                    <a:pt x="1687841" y="535940"/>
                  </a:lnTo>
                  <a:cubicBezTo>
                    <a:pt x="1687841" y="604520"/>
                    <a:pt x="1631961" y="660400"/>
                    <a:pt x="1563381" y="660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655422" y="1654922"/>
            <a:ext cx="6977156" cy="6977156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1707239">
            <a:off x="10339641" y="7796868"/>
            <a:ext cx="1675183" cy="83131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1707239" flipH="1" flipV="1">
            <a:off x="6064753" y="2118368"/>
            <a:ext cx="1675183" cy="83131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5967895" y="4074632"/>
            <a:ext cx="6473326" cy="1830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9"/>
              </a:lnSpc>
            </a:pPr>
            <a:r>
              <a:rPr lang="en-US" sz="4836" spc="-285">
                <a:solidFill>
                  <a:srgbClr val="FFFFFF"/>
                </a:solidFill>
                <a:latin typeface="Montserrat Extra-Bold"/>
              </a:rPr>
              <a:t>OUR RECOMMENDATIONS ARE BASED ON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1557" y="2321493"/>
            <a:ext cx="3824986" cy="71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spc="83">
                <a:solidFill>
                  <a:srgbClr val="212423"/>
                </a:solidFill>
                <a:latin typeface="Montserrat Bold"/>
              </a:rPr>
              <a:t>84.3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80134" y="8125925"/>
            <a:ext cx="3824986" cy="71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spc="83">
                <a:solidFill>
                  <a:srgbClr val="212423"/>
                </a:solidFill>
                <a:latin typeface="Montserrat Bold"/>
              </a:rPr>
              <a:t>63.01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65172" y="1302038"/>
            <a:ext cx="3499197" cy="467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941" spc="58">
                <a:solidFill>
                  <a:srgbClr val="FFFFFF"/>
                </a:solidFill>
                <a:latin typeface="Montserrat Extra-Bold"/>
              </a:rPr>
              <a:t>Accuracy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32578" y="6980539"/>
            <a:ext cx="3824986" cy="467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941" spc="58">
                <a:solidFill>
                  <a:srgbClr val="FFFFFF"/>
                </a:solidFill>
                <a:latin typeface="Montserrat Extra-Bold"/>
              </a:rPr>
              <a:t>Sensitivity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1753206">
            <a:off x="-1183237" y="4465219"/>
            <a:ext cx="25783492" cy="9586163"/>
          </a:xfrm>
          <a:prstGeom prst="rect">
            <a:avLst/>
          </a:prstGeom>
          <a:solidFill>
            <a:srgbClr val="000000">
              <a:alpha val="6667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1028700"/>
            <a:ext cx="1783058" cy="29501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5476242" y="8956802"/>
            <a:ext cx="1783058" cy="295015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7494137" y="698454"/>
            <a:ext cx="2556816" cy="257554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979461" y="9578419"/>
            <a:ext cx="2556816" cy="2575547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28700" y="8302951"/>
            <a:ext cx="16230600" cy="16951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" name="AutoShape 8"/>
          <p:cNvSpPr/>
          <p:nvPr/>
        </p:nvSpPr>
        <p:spPr>
          <a:xfrm>
            <a:off x="1028700" y="1814529"/>
            <a:ext cx="16230600" cy="16951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" name="TextBox 9"/>
          <p:cNvSpPr txBox="1"/>
          <p:nvPr/>
        </p:nvSpPr>
        <p:spPr>
          <a:xfrm>
            <a:off x="1028700" y="2907974"/>
            <a:ext cx="7954021" cy="3919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898"/>
              </a:lnSpc>
            </a:pPr>
            <a:r>
              <a:rPr lang="en-US" sz="16194" spc="-955">
                <a:solidFill>
                  <a:srgbClr val="FFFFFF"/>
                </a:solidFill>
                <a:latin typeface="Montserrat Extra-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199</Words>
  <Application>Microsoft Macintosh PowerPoint</Application>
  <PresentationFormat>Custom</PresentationFormat>
  <Paragraphs>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Canva Sans</vt:lpstr>
      <vt:lpstr>Montserrat Extra-Bold Bold</vt:lpstr>
      <vt:lpstr>Calibri</vt:lpstr>
      <vt:lpstr>Montserrat Extra-Bold</vt:lpstr>
      <vt:lpstr>Montserrat Extra-Bold Italics</vt:lpstr>
      <vt:lpstr>Montserrat Bold</vt:lpstr>
      <vt:lpstr>Montserrat</vt:lpstr>
      <vt:lpstr>Arial</vt:lpstr>
      <vt:lpstr>Montserrat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Company Profile Presentation</dc:title>
  <cp:lastModifiedBy>Yuktha Lakshmi Arcot Badarinath</cp:lastModifiedBy>
  <cp:revision>1</cp:revision>
  <dcterms:created xsi:type="dcterms:W3CDTF">2006-08-16T00:00:00Z</dcterms:created>
  <dcterms:modified xsi:type="dcterms:W3CDTF">2022-12-10T21:58:31Z</dcterms:modified>
  <dc:identifier>DAFUIJ68IPU</dc:identifier>
</cp:coreProperties>
</file>